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3A1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3A1A"/>
                </a:solidFill>
                <a:latin typeface="Arial"/>
              </a:rPr>
              <a:t>Annual kgCO₂e by Scenario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kgCO₂e / year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Current
(On-Premise)</c:v>
                  </c:pt>
                  <c:pt idx="1">
                    <c:v>CTO Proposal
(3× r5.2xlarge)</c:v>
                  </c:pt>
                  <c:pt idx="2">
                    <c:v>Our Solution
(Fargate+RDS)</c:v>
                  </c:pt>
                  <c:pt idx="3">
                    <c:v>Optimised
Solution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805</c:v>
                </c:pt>
                <c:pt idx="1">
                  <c:v>846</c:v>
                </c:pt>
                <c:pt idx="2">
                  <c:v>61</c:v>
                </c:pt>
                <c:pt idx="3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2926080" cy="2926080"/>
          </a:xfrm>
          <a:prstGeom prst="ellipse">
            <a:avLst/>
          </a:prstGeom>
          <a:solidFill>
            <a:srgbClr val="97BC62">
              <a:alpha val="25000"/>
            </a:srgbClr>
          </a:solidFill>
          <a:ln w="12700">
            <a:solidFill>
              <a:srgbClr val="97BC6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🌍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Sustainable IT Infrastructure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7548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EcoPay Challenge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Sustainable IT Consultant — presenting to the EcoPay CEO &amp; CTO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Data Engineering &amp; AI  |  ESILV Paris  |  March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251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64008" cy="1691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0515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EcoPay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" y="1344168"/>
            <a:ext cx="40690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employees · 50,000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micro-investment FinTech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51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64008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0515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Current Setup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82896" y="1344168"/>
            <a:ext cx="40690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PowerEdge R740 (on-premise)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 old · 80% capacity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251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34640"/>
            <a:ext cx="64008" cy="16916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" y="29260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CTO Proposal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" y="3218688"/>
            <a:ext cx="40690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AWS · 3-AZ replication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eu-west-1 (Ireland)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251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34640"/>
            <a:ext cx="64008" cy="1691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29260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Our Role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82896" y="3218688"/>
            <a:ext cx="40690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IT Consultant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by CEO to evaluate proposal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EcoPay faces a dual constraint: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64008" cy="10789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4630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Operational Risk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" y="1755648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at 80% capacity — less than 6 months of headroom at current growth rates. Hardware failure = unplanned downtime for 50,000 users.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78608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578608"/>
            <a:ext cx="64008" cy="10789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26700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 Sustainability Risk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" y="2962656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EcoPay's brand is built on responsible investing. Any infrastructure decision must be credibly sustainable — greenwashing creates reputational &amp; legal exposure.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785616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785616"/>
            <a:ext cx="64008" cy="10789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387705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❓  The Core Question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" y="4169664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lowest-carbon architecture that meets EcoPay's operational, resilience, and regulatory requirements?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— Why Sustainable IT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011680" cy="640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2–4%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GHG emissions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ICT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32888" y="1005840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005840"/>
            <a:ext cx="20116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1.8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624328" y="2331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of EcoPay server room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1.15 for major cloud providers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45736" y="1005840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45736" y="1005840"/>
            <a:ext cx="201168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29×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837176" y="2331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intensity difference: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 vs Stockholm grid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58584" y="1005840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58584" y="1005840"/>
            <a:ext cx="201168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0024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7050024" y="2331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CO₂e reduction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our recommendation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Freitag et al. (2021) · electricityMap · Boavizta API · This report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Data &amp; Estimation Inputs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Server (Dell PowerEdge R740)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114800" cy="402336"/>
          </a:xfrm>
          <a:prstGeom prst="rect">
            <a:avLst/>
          </a:prstGeom>
          <a:solidFill>
            <a:srgbClr val="EEF4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1353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Intel Xeon Silver 4114 (85W TDP)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830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17830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GB · 0.5W per GB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85416"/>
            <a:ext cx="4114800" cy="402336"/>
          </a:xfrm>
          <a:prstGeom prst="rect">
            <a:avLst/>
          </a:prstGeom>
          <a:solidFill>
            <a:srgbClr val="EEF4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128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2128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2 TB HDD · 8W each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615184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4261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Utilisation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26426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TDP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44952"/>
            <a:ext cx="4114800" cy="402336"/>
          </a:xfrm>
          <a:prstGeom prst="rect">
            <a:avLst/>
          </a:prstGeom>
          <a:solidFill>
            <a:srgbClr val="EEF4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723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(server room)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30723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474720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021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intensity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7400" y="3502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gCO₂e/kWh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904488"/>
            <a:ext cx="4114800" cy="402336"/>
          </a:xfrm>
          <a:prstGeom prst="rect">
            <a:avLst/>
          </a:prstGeom>
          <a:solidFill>
            <a:srgbClr val="EEF4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319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carbon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57400" y="3931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kg over 4 years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9601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Estimation Data Sources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1325880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325880"/>
            <a:ext cx="64008" cy="5943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electricityMap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grid intensity by AWS region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029968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029968"/>
            <a:ext cx="64008" cy="5943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057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Boavizta API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2304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instance power &amp; carbon data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734056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734056"/>
            <a:ext cx="64008" cy="5943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7614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AWS Carbon Tool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3008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Carbon Footprint disclosures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438144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438144"/>
            <a:ext cx="64008" cy="5943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4655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GHG Protocol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00600" y="37124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1/2/3 accounting framework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4142232"/>
            <a:ext cx="4160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4142232"/>
            <a:ext cx="64008" cy="5943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4169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Freitag et al.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00600" y="4416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lifecycle carbon research (2021)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— Carbon Footprint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685800"/>
          </a:xfrm>
          <a:prstGeom prst="rect">
            <a:avLst/>
          </a:prstGeom>
          <a:solidFill>
            <a:srgbClr val="EEF4E5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CO₂e = (Power × PUE × Hours × Grid Intensity) + Embodied Carbon (amortised)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83080"/>
            <a:ext cx="201168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874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1️⃣ Profile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Load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2651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pg_stat_statements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system metrics for 2 weeks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migration decision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32888" y="1783080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2888" y="1783080"/>
            <a:ext cx="201168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1874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2️⃣ Estimate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Scenarios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42616" y="2651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Boavizta + electricityMap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current, CTO,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alternative architectures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45736" y="1783080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45736" y="1783080"/>
            <a:ext cx="201168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1874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3️⃣ Compare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Lifecycle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55464" y="2651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operational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carbon — 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accounting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58584" y="1783080"/>
            <a:ext cx="2011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58584" y="1783080"/>
            <a:ext cx="201168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1874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4️⃣ Quantify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 Savings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68312" y="265176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query optimisation,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and dark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 separately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Architecture — Sustainable Hybrid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37160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515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(50K)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005840"/>
            <a:ext cx="146304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051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CloudFront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1005840"/>
            <a:ext cx="173736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1051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AWS Fargate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(Serverless)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1005840"/>
            <a:ext cx="173736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1051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RDS 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(Graviton2 ARM)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9520" y="1005840"/>
            <a:ext cx="1234440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35240" y="10515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S3 Glacier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91640" y="1435608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13258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1435608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3258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1435608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3258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60920" y="1435608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13258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eu-north-1 (Stockholm)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11880" y="1993392"/>
            <a:ext cx="3840480" cy="1828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2194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8 gCO₂e/kWh — 97% lower than current grid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468880"/>
            <a:ext cx="8503920" cy="594360"/>
          </a:xfrm>
          <a:prstGeom prst="rect">
            <a:avLst/>
          </a:prstGeom>
          <a:solidFill>
            <a:srgbClr val="FFF8F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Pilot Light DR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14600" y="2514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RDS replica in eu-west-3 (Paris, 56 gCO₂e/kWh)  ·  RTO &lt; 4 h  ·  RPO &lt; 1 h  ·  70% cheaper than 3-AZ replication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200400"/>
            <a:ext cx="2148840" cy="329184"/>
          </a:xfrm>
          <a:prstGeom prst="rect">
            <a:avLst/>
          </a:prstGeom>
          <a:solidFill>
            <a:srgbClr val="2C5F2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186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32888" y="3200400"/>
            <a:ext cx="2148840" cy="329184"/>
          </a:xfrm>
          <a:prstGeom prst="rect">
            <a:avLst/>
          </a:prstGeom>
          <a:solidFill>
            <a:srgbClr val="2C5F2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78608" y="32186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45736" y="3200400"/>
            <a:ext cx="2148840" cy="329184"/>
          </a:xfrm>
          <a:prstGeom prst="rect">
            <a:avLst/>
          </a:prstGeom>
          <a:solidFill>
            <a:srgbClr val="2C5F2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32186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Proposal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58584" y="3200400"/>
            <a:ext cx="2148840" cy="329184"/>
          </a:xfrm>
          <a:prstGeom prst="rect">
            <a:avLst/>
          </a:prstGeom>
          <a:solidFill>
            <a:srgbClr val="2C5F2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04304" y="32186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547872"/>
            <a:ext cx="2148840" cy="329184"/>
          </a:xfrm>
          <a:prstGeom prst="rect">
            <a:avLst/>
          </a:prstGeom>
          <a:solidFill>
            <a:srgbClr val="F7F8F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5661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32888" y="3547872"/>
            <a:ext cx="2148840" cy="329184"/>
          </a:xfrm>
          <a:prstGeom prst="rect">
            <a:avLst/>
          </a:prstGeom>
          <a:solidFill>
            <a:srgbClr val="F7F8F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78608" y="35661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45736" y="3547872"/>
            <a:ext cx="2148840" cy="329184"/>
          </a:xfrm>
          <a:prstGeom prst="rect">
            <a:avLst/>
          </a:prstGeom>
          <a:solidFill>
            <a:srgbClr val="F7F8F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35661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 (eu-west-1)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58584" y="3547872"/>
            <a:ext cx="2148840" cy="329184"/>
          </a:xfrm>
          <a:prstGeom prst="rect">
            <a:avLst/>
          </a:prstGeom>
          <a:solidFill>
            <a:srgbClr val="EEF4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04304" y="35661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Stockholm (eu-north-1)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3895344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91363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gCO₂e/kWh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32888" y="3895344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78608" y="391363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45736" y="3895344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391363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58584" y="3895344"/>
            <a:ext cx="2148840" cy="329184"/>
          </a:xfrm>
          <a:prstGeom prst="rect">
            <a:avLst/>
          </a:prstGeom>
          <a:solidFill>
            <a:srgbClr val="EEF4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04304" y="391363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" y="4242816"/>
            <a:ext cx="2148840" cy="329184"/>
          </a:xfrm>
          <a:prstGeom prst="rect">
            <a:avLst/>
          </a:prstGeom>
          <a:solidFill>
            <a:srgbClr val="F7F8F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26110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Strategy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532888" y="4242816"/>
            <a:ext cx="2148840" cy="329184"/>
          </a:xfrm>
          <a:prstGeom prst="rect">
            <a:avLst/>
          </a:prstGeom>
          <a:solidFill>
            <a:srgbClr val="F7F8F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78608" y="426110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backup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45736" y="4242816"/>
            <a:ext cx="2148840" cy="329184"/>
          </a:xfrm>
          <a:prstGeom prst="rect">
            <a:avLst/>
          </a:prstGeom>
          <a:solidFill>
            <a:srgbClr val="F7F8F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91456" y="426110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3-AZ active-active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958584" y="4242816"/>
            <a:ext cx="2148840" cy="329184"/>
          </a:xfrm>
          <a:prstGeom prst="rect">
            <a:avLst/>
          </a:prstGeom>
          <a:solidFill>
            <a:srgbClr val="EEF4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04304" y="426110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Light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20040" y="4590288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60857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532888" y="4590288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78608" y="460857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(bare metal)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745736" y="4590288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91456" y="460857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r5.2xlarge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58584" y="4590288"/>
            <a:ext cx="2148840" cy="329184"/>
          </a:xfrm>
          <a:prstGeom prst="rect">
            <a:avLst/>
          </a:prstGeom>
          <a:solidFill>
            <a:srgbClr val="EEF4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04304" y="460857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Fargate serverless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Highlights — Eco-Design Optimisations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Actions Beyond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64008" cy="10789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08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Query Optimisation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87452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pg_stat_statements audit → fix top-20 slow queries, add missing indexes, eliminate N+1 patterns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527048"/>
            <a:ext cx="1645920" cy="347472"/>
          </a:xfrm>
          <a:prstGeom prst="rect">
            <a:avLst/>
          </a:prstGeom>
          <a:solidFill>
            <a:srgbClr val="EEF4E5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5270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CPU reduction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1527048"/>
            <a:ext cx="123444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5270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kg CO₂e/yr saved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87752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87752"/>
            <a:ext cx="64008" cy="10789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6791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🗑️  Dark Data Elimination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" y="304495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TTL on log tables · delete obsolete user sessions, duplicate event streams, expired campaign assets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2697480"/>
            <a:ext cx="1645920" cy="347472"/>
          </a:xfrm>
          <a:prstGeom prst="rect">
            <a:avLst/>
          </a:prstGeom>
          <a:solidFill>
            <a:srgbClr val="EEF4E5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6974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storage reduction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2697480"/>
            <a:ext cx="12344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26974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kg CO₂e/yr saved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758184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58184"/>
            <a:ext cx="64008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8496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Intelligent Caching (Redis)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" y="4215384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for portfolio reads (target: 80% hit rate) · investment data changes only on user action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3867912"/>
            <a:ext cx="1645920" cy="347472"/>
          </a:xfrm>
          <a:prstGeom prst="rect">
            <a:avLst/>
          </a:prstGeom>
          <a:solidFill>
            <a:srgbClr val="EEF4E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38679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DB load reduction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89520" y="3867912"/>
            <a:ext cx="12344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38679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kg CO₂e/yr saved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eco-design saving: ~10 kgCO₂e/yr on top of the architecture migration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Carbon Footprint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9144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005840"/>
            <a:ext cx="2926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005840"/>
            <a:ext cx="292608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10972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-92%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989320" y="17556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 reduction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current baseline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2331720"/>
            <a:ext cx="2926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97880" y="2331720"/>
            <a:ext cx="292608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4231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-93%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5989320" y="30815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 reduction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CTO proposal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97880" y="3657600"/>
            <a:ext cx="2926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97880" y="3657600"/>
            <a:ext cx="2926080" cy="6400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7490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~51 kg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5989320" y="44074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 &amp; 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64008" cy="1188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Cloud ≠ Green by Default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3533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CTO's plan is 5% MORE carbon-intensive than the current on-premise setup. Cloud region selection is the #1 lever.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91440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914400"/>
            <a:ext cx="64008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📍  Location is Everything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3533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Stockholm (8 gCO₂e/kWh) vs Ireland (233 gCO₂e/kWh) — a 29× difference. Always check electricityMap before choosing a cloud region.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21284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12848"/>
            <a:ext cx="64008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304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3-AZ is Over-Engineered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" y="26517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Light DR meets EcoPay's SLA needs (RTO &lt; 4h, RPO &lt; 1h) at 70% lower cost &amp; carbon. 3-AZ is for Tier-1 banks.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27448" y="2212848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2212848"/>
            <a:ext cx="64008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304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Quantify Everything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6517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 carbon KPI dashboard is the difference between credible sustainability and greenwashing. Report absolute numbers.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511296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11296"/>
            <a:ext cx="64008" cy="1188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6027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Architecture Before Apps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" y="395020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(Fargate) + ARM (Graviton2) + data tiering deliver more savings than any app-level optimisation alone.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27448" y="3511296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27448" y="3511296"/>
            <a:ext cx="64008" cy="1188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027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Quick Wins Exist Today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95020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optimisation, dark data cleanup, and caching can be started on the CURRENT server — no migration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228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Current Limitations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493776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Estimates based on published TDP, not profiled 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4160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996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 3 emissions (SaaS, user devices) not included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51176"/>
            <a:ext cx="4160520" cy="493776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9689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Boavizta values are fleet averages, not instance-specific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118104"/>
            <a:ext cx="4160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6382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 intensity figures are annual averages, not real-time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685032"/>
            <a:ext cx="4160520" cy="493776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307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Roadmap assumes engineering capacity for migration 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Future Opportunities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09160" y="141732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417320"/>
            <a:ext cx="64008" cy="5943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4630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Scheduling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17099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batch jobs when Stockholm grid is at its greenest (overnight wind surplus)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093976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093976"/>
            <a:ext cx="64008" cy="5943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1396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Instances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386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 cost &amp; energy reduction for non-critical analytics workloads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770632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770632"/>
            <a:ext cx="64008" cy="5943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8163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0632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EventBridge triggers replace scheduled polling — eliminates idle compute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447288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447288"/>
            <a:ext cx="64008" cy="5943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4930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 Metric (GreenSF)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7398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Carbon Intensity per API call — granular tracking at code level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4123944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4123944"/>
            <a:ext cx="64008" cy="5943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1696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Science-Based Target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44165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SBTi 1.5°C pathway commitment for investor ESG disclosures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2C5F2D">
              <a:alpha val="25000"/>
            </a:srgbClr>
          </a:solidFill>
          <a:ln w="12700">
            <a:solidFill>
              <a:srgbClr val="2C5F2D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02920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070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94% Carbon Reduction Achievable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5544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+ RDS (Graviton2) in Stockholm delivers 94% lower emissions vs. current on-premise.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6400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214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📍 Stockholm First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4688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eu-north-1 (8 gCO₂e/kWh) is the single most impactful decision — 29× greener than Ireland.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6400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0358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Reject 3-AZ Replication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33832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Light DR meets EcoPay's needs at 70% lower cost and carbon. 3-AZ is overkill.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64008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9502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Quantify to Credibility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42976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live carbon dashboard — the difference between genuine sustainability and greenwashing.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sustainable infrastructure is the one that meets actual needs with minimal waste.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EcoPay — Sustainable IT Infrastructure</dc:title>
  <dc:subject>PptxGenJS Presentation</dc:subject>
  <dc:creator>M.Sc. Data Engineering &amp; AI, ESILV Paris</dc:creator>
  <cp:lastModifiedBy>M.Sc. Data Engineering &amp; AI, ESILV Paris</cp:lastModifiedBy>
  <cp:revision>1</cp:revision>
  <dcterms:created xsi:type="dcterms:W3CDTF">2026-03-13T17:38:13Z</dcterms:created>
  <dcterms:modified xsi:type="dcterms:W3CDTF">2026-03-13T17:38:13Z</dcterms:modified>
</cp:coreProperties>
</file>